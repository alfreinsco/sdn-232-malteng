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600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lt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21" y="530352"/>
            <a:ext cx="685157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621792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SD NEGERI 232
MALUKU TENGAH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965960" cy="310896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PRESENTASI APLIKASI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41448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Sistem Informasi
Jadwal Pelajaran
dan Nilai 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17720"/>
            <a:ext cx="3520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0F2FE"/>
                </a:solidFill>
                <a:latin typeface="Aptos"/>
              </a:rPr>
              <a:t>Pengelolaan akademik sekolah yang lebih tertib, aman, dan mudah digunakan.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594360"/>
            <a:ext cx="6263640" cy="5623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0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381506"/>
            <a:ext cx="5870448" cy="40766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181344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BAE6FD"/>
                </a:solidFill>
                <a:latin typeface="Aptos"/>
              </a:rPr>
              <a:t>Asia/Jayapura - 2026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2139696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LATAR BELAKANG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Mengapa aplikasi ini dibutuhkan?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Data akademik perlu tersusun agar mudah ditemukan dan tidak saling bertabrakan.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12848"/>
            <a:ext cx="594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284C7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852928"/>
            <a:ext cx="2834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  <a:latin typeface="Aptos"/>
              </a:rPr>
              <a:t>Data tersebar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38144"/>
            <a:ext cx="28529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Data guru, siswa, kelas, jadwal, dan nilai sulit dipantau jika berada di banyak catatan.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96596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2212848"/>
            <a:ext cx="594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284C7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2852928"/>
            <a:ext cx="2834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  <a:latin typeface="Aptos"/>
              </a:rPr>
              <a:t>Risiko kesalahan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438144"/>
            <a:ext cx="28529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Jadwal dapat bentrok dan nilai dapat tertukar bila proses tidak memiliki validasi.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96596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212848"/>
            <a:ext cx="594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284C7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2852928"/>
            <a:ext cx="2834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  <a:latin typeface="Aptos"/>
              </a:rPr>
              <a:t>Laporan lambat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3438144"/>
            <a:ext cx="28529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ptos"/>
              </a:rPr>
              <a:t>Rekap manual membutuhkan waktu dan menyulitkan pemantauan kepala sekolah.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42432"/>
            <a:ext cx="10927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369A1"/>
                </a:solidFill>
                <a:latin typeface="Aptos"/>
              </a:rPr>
              <a:t>Aplikasi menyatukan proses tersebut dalam satu tempat.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335024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SOLUSI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Satu aplikasi untuk kegiatan akademik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Pengguna melihat fitur sesuai tanggung jawabnya.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4800600" cy="40050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556" y="2011680"/>
            <a:ext cx="4009647" cy="3639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1920240"/>
            <a:ext cx="5349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0F172A"/>
                </a:solidFill>
                <a:latin typeface="Aptos"/>
              </a:rPr>
              <a:t>Terpusat - </a:t>
            </a:r>
            <a:r>
              <a:rPr sz="1800">
                <a:solidFill>
                  <a:srgbClr val="475569"/>
                </a:solidFill>
                <a:latin typeface="Aptos"/>
              </a:rPr>
              <a:t>data akademik berada dalam satu sistem.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0F172A"/>
                </a:solidFill>
                <a:latin typeface="Aptos"/>
              </a:rPr>
              <a:t>Terkendali - </a:t>
            </a:r>
            <a:r>
              <a:rPr sz="1800">
                <a:solidFill>
                  <a:srgbClr val="475569"/>
                </a:solidFill>
                <a:latin typeface="Aptos"/>
              </a:rPr>
              <a:t>setiap pengguna memiliki akses yang berbeda.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0F172A"/>
                </a:solidFill>
                <a:latin typeface="Aptos"/>
              </a:rPr>
              <a:t>Tervalidasi - </a:t>
            </a:r>
            <a:r>
              <a:rPr sz="1800">
                <a:solidFill>
                  <a:srgbClr val="475569"/>
                </a:solidFill>
                <a:latin typeface="Aptos"/>
              </a:rPr>
              <a:t>jadwal bentrok dan nilai tidak sah ditolak.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0F172A"/>
                </a:solidFill>
                <a:latin typeface="Aptos"/>
              </a:rPr>
              <a:t>Siap laporan - </a:t>
            </a:r>
            <a:r>
              <a:rPr sz="1800">
                <a:solidFill>
                  <a:srgbClr val="475569"/>
                </a:solidFill>
                <a:latin typeface="Aptos"/>
              </a:rPr>
              <a:t>hasil dapat dipantau, dicetak, dan diunduh sebagai PDF.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5230368"/>
            <a:ext cx="5303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369A1"/>
                </a:solidFill>
                <a:latin typeface="Aptos"/>
              </a:rPr>
              <a:t>Tujuan akhirnya: pekerjaan lebih cepat dan data lebih dapat dipercaya.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536192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PENGGUNA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Empat jenis pengguna, empat kebutuhan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Menu dan data otomatis dibatasi berdasarkan role akun.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521208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2167127"/>
            <a:ext cx="868680" cy="86868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8686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7"/>
            <a:ext cx="3474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24327"/>
            <a:ext cx="3474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Kelola seluruh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521208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19672" y="2167127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295144"/>
            <a:ext cx="8686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167127"/>
            <a:ext cx="3474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GURU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624327"/>
            <a:ext cx="3474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Jadwal dan input nilai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13048"/>
            <a:ext cx="521208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" y="4105656"/>
            <a:ext cx="868680" cy="8686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233672"/>
            <a:ext cx="8686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05656"/>
            <a:ext cx="3474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SISWA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562856"/>
            <a:ext cx="3474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Jadwal dan nilai sendiri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813048"/>
            <a:ext cx="521208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19672" y="4105656"/>
            <a:ext cx="868680" cy="86868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4233672"/>
            <a:ext cx="8686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4105656"/>
            <a:ext cx="3474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KEPALA SEKOLAH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4562856"/>
            <a:ext cx="3474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Monitoring dan laporan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23444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AKSES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Masuk dengan akun sekolah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Registrasi umum dinonaktifkan; akun dibuat dan dikelola oleh Admin.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37360"/>
            <a:ext cx="731520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654" y="1901952"/>
            <a:ext cx="5859475" cy="40690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75320" y="1920240"/>
            <a:ext cx="420624" cy="420624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5672" y="1911096"/>
            <a:ext cx="26243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Isi akun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5672" y="2148840"/>
            <a:ext cx="26243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Masukkan username atau email.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2971800"/>
            <a:ext cx="420624" cy="420624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5672" y="2962656"/>
            <a:ext cx="26243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Isi password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3200400"/>
            <a:ext cx="26243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Gunakan password yang diberikan sekolah.</a:t>
            </a:r>
          </a:p>
        </p:txBody>
      </p:sp>
      <p:sp>
        <p:nvSpPr>
          <p:cNvPr id="13" name="Oval 12"/>
          <p:cNvSpPr/>
          <p:nvPr/>
        </p:nvSpPr>
        <p:spPr>
          <a:xfrm>
            <a:off x="8275320" y="4023360"/>
            <a:ext cx="420624" cy="420624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5672" y="4014216"/>
            <a:ext cx="26243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Tekan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5672" y="4251960"/>
            <a:ext cx="26243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Dashboard tampil sesuai role pengguna.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303520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11D48"/>
                </a:solidFill>
                <a:latin typeface="Aptos"/>
              </a:rPr>
              <a:t>Akun nonaktif otomatis ditolak.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23444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Dashboard dan kendali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Admin melihat ringkasan kondisi sekolah dan mengelola seluruh data akademik.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731520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217" y="1920240"/>
            <a:ext cx="4452925" cy="40416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2011680"/>
            <a:ext cx="3063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ptos"/>
              </a:rPr>
              <a:t>Ringkasan - </a:t>
            </a:r>
            <a:r>
              <a:rPr sz="1600">
                <a:solidFill>
                  <a:srgbClr val="475569"/>
                </a:solidFill>
                <a:latin typeface="Aptos"/>
              </a:rPr>
              <a:t>guru, siswa, kelas, mata pelajaran, jadwal, dan nilai.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ptos"/>
              </a:rPr>
              <a:t>Periode aktif - </a:t>
            </a:r>
            <a:r>
              <a:rPr sz="1600">
                <a:solidFill>
                  <a:srgbClr val="475569"/>
                </a:solidFill>
                <a:latin typeface="Aptos"/>
              </a:rPr>
              <a:t>tahun ajaran dan semester yang sedang berjalan.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ptos"/>
              </a:rPr>
              <a:t>Jadwal hari ini - </a:t>
            </a:r>
            <a:r>
              <a:rPr sz="1600">
                <a:solidFill>
                  <a:srgbClr val="475569"/>
                </a:solidFill>
                <a:latin typeface="Aptos"/>
              </a:rPr>
              <a:t>informasi kegiatan akademik terbaru.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4800600"/>
            <a:ext cx="2971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369A1"/>
                </a:solidFill>
                <a:latin typeface="Aptos"/>
              </a:rPr>
              <a:t>Semua informasi penting terlihat tanpa membuka banyak halaman.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837943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MASTER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Data dasar yang saling terhubung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Admin mengisi data sekali, lalu menggunakannya pada jadwal, nilai, dan laporan.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3911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201168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Tahun Ajaran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82880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2" y="203911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8808" y="201168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Semester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82880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3911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201168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Guru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182880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54312" y="203911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48088" y="201168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Siswa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13639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10896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Kelas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92608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5032" y="313639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8" y="310896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Mata Pelajaran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92608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313639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310896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Jam Pelajaran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2926080"/>
            <a:ext cx="248716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3136392"/>
            <a:ext cx="38404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ptos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48088" y="3108960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Pengguna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251960"/>
            <a:ext cx="5413248" cy="13258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51713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369A1"/>
                </a:solidFill>
                <a:latin typeface="Aptos"/>
              </a:rPr>
              <a:t>Riwayat tetap aman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10328"/>
            <a:ext cx="47548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Data yang sudah dipakai dinonaktifkan, bukan sembarang dihapus.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4251960"/>
            <a:ext cx="51663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4517136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Pencarian dan filter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910328"/>
            <a:ext cx="4526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Tabel dapat dicari, diurutkan, disaring, dan dibagi per halaman.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335024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JADWAL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Jadwal mudah dibaca dan bebas bentrok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Sistem memeriksa konflik sebelum jadwal disimpan.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713232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-jadwal-pelaja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485" y="1920240"/>
            <a:ext cx="5639508" cy="4041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847088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208483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0116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Bentrok kelas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322576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Satu kelas tidak boleh memiliki dua pelajaran pada waktu yang sama.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172968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3410711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33756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Bentrok guru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648456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Satu guru tidak boleh mengajar dua kelas pada waktu yang sama.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498848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73659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66344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Duplikat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974336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Jadwal yang sama tidak dapat disimpan dua kali.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14300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GURU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Input nilai banyak siswa sekaligus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Guru memilih pengajaran dan bulan, kemudian mengisi Minggu 1 sampai Minggu 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763524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uru-input-nilai-te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713" y="1920240"/>
            <a:ext cx="5819973" cy="40416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965960"/>
            <a:ext cx="28346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0F172A"/>
                </a:solidFill>
                <a:latin typeface="Aptos"/>
              </a:rPr>
              <a:t>Cepat - </a:t>
            </a:r>
            <a:r>
              <a:rPr sz="1500">
                <a:solidFill>
                  <a:srgbClr val="475569"/>
                </a:solidFill>
                <a:latin typeface="Aptos"/>
              </a:rPr>
              <a:t>seluruh siswa muncul dalam satu tabel.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F172A"/>
                </a:solidFill>
                <a:latin typeface="Aptos"/>
              </a:rPr>
              <a:t>Aman - </a:t>
            </a:r>
            <a:r>
              <a:rPr sz="1500">
                <a:solidFill>
                  <a:srgbClr val="475569"/>
                </a:solidFill>
                <a:latin typeface="Aptos"/>
              </a:rPr>
              <a:t>guru hanya dapat mengisi kelas yang diajar.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F172A"/>
                </a:solidFill>
                <a:latin typeface="Aptos"/>
              </a:rPr>
              <a:t>Valid - </a:t>
            </a:r>
            <a:r>
              <a:rPr sz="1500">
                <a:solidFill>
                  <a:srgbClr val="475569"/>
                </a:solidFill>
                <a:latin typeface="Aptos"/>
              </a:rPr>
              <a:t>nilai harus 0-100; kosong berarti belum dinilai.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F172A"/>
                </a:solidFill>
                <a:latin typeface="Aptos"/>
              </a:rPr>
              <a:t>Otomatis - </a:t>
            </a:r>
            <a:r>
              <a:rPr sz="1500">
                <a:solidFill>
                  <a:srgbClr val="475569"/>
                </a:solidFill>
                <a:latin typeface="Aptos"/>
              </a:rPr>
              <a:t>rata-rata menghitung nilai yang sudah terisi saja.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23444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SISWA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Siswa melihat jadwal dan nilainya sendiri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Akses siswa dibatasi otomatis berdasarkan akun dan kelas aktif.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44068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iswa-jadwal-pelaja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22551"/>
            <a:ext cx="5074920" cy="36370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27648" y="1783080"/>
            <a:ext cx="521208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swa-nilai-say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2258314"/>
            <a:ext cx="4846320" cy="3365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5623560"/>
            <a:ext cx="141732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JADWAL KELAS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5623560"/>
            <a:ext cx="128016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NILAI SAYA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2139696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KEPALA SEKOLAH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Monitoring tanpa mengubah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Kepala Sekolah memperoleh informasi untuk pengawasan dan pengambilan keputusan.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726948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epala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357" y="1920240"/>
            <a:ext cx="4452925" cy="40416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993392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ptos"/>
              </a:rPr>
              <a:t>Pantau - </a:t>
            </a:r>
            <a:r>
              <a:rPr sz="1600">
                <a:solidFill>
                  <a:srgbClr val="475569"/>
                </a:solidFill>
                <a:latin typeface="Aptos"/>
              </a:rPr>
              <a:t>jumlah data dan aktivitas akademik.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ptos"/>
              </a:rPr>
              <a:t>Filter - </a:t>
            </a:r>
            <a:r>
              <a:rPr sz="1600">
                <a:solidFill>
                  <a:srgbClr val="475569"/>
                </a:solidFill>
                <a:latin typeface="Aptos"/>
              </a:rPr>
              <a:t>jadwal dan nilai berdasarkan kelas, guru, siswa, atau periode.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ptos"/>
              </a:rPr>
              <a:t>Laporan - </a:t>
            </a:r>
            <a:r>
              <a:rPr sz="1600">
                <a:solidFill>
                  <a:srgbClr val="475569"/>
                </a:solidFill>
                <a:latin typeface="Aptos"/>
              </a:rPr>
              <a:t>cetak dan unduh PDF saat diperlukan.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ptos"/>
              </a:rPr>
              <a:t>Read-only - </a:t>
            </a:r>
            <a:r>
              <a:rPr sz="1600">
                <a:solidFill>
                  <a:srgbClr val="475569"/>
                </a:solidFill>
                <a:latin typeface="Aptos"/>
              </a:rPr>
              <a:t>tidak memiliki CRUD penuh seperti Admin.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35608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LAPORAN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Preview, cetak, dan unduh 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Informasi sekolah dan periode ditampilkan pada laporan resmi.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48640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-laporan-jadw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062" y="1920240"/>
            <a:ext cx="4878435" cy="4041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737360"/>
            <a:ext cx="5193792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laporan-nil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122" y="1920240"/>
            <a:ext cx="4659706" cy="404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" y="5623560"/>
            <a:ext cx="164592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LAPORAN JADWAL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1968" y="5623560"/>
            <a:ext cx="15544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LAPORAN NILAI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636776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RESPONSIF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Nyaman digunakan dari telepon genggam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Menu berubah menjadi drawer dan tabel tetap dapat digeser secara horizontal.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3017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bile-guru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590" y="1901952"/>
            <a:ext cx="1343139" cy="39502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664207" y="5806440"/>
            <a:ext cx="150876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GURU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737360"/>
            <a:ext cx="3017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bile-guru-input-nilai-ter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5330" y="1901952"/>
            <a:ext cx="1702299" cy="39502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67528" y="5806440"/>
            <a:ext cx="150876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INPUT NILAI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737360"/>
            <a:ext cx="3017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obile-siswa-nilai-say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7133" y="1901952"/>
            <a:ext cx="1825333" cy="395020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070848" y="5806440"/>
            <a:ext cx="150876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SISWA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536192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KEAMANAN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Akses dan integritas data dijaga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Perlindungan diterapkan di backend, bukan hanya menyembunyikan menu.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212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65960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Role &amp; permission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947672"/>
            <a:ext cx="26517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Admin, Guru, Siswa, dan Kepala Sekolah memiliki izin berbeda.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212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965960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Pencegahan IDOR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47672"/>
            <a:ext cx="26517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Guru dan siswa hanya mengambil data yang terkait dengan akun login.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212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83280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Validasi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364992"/>
            <a:ext cx="26517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Jadwal, nilai, akun, dan upload diperiksa sebelum disimpan.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212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3383280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Password aman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364992"/>
            <a:ext cx="26517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Password di-hash dan tidak pernah ditampilkan sebagai teks biasa.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212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800600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Riwayat akademik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4782312"/>
            <a:ext cx="26517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Foreign key dan status nonaktif menjaga data historis.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212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800600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Pengujian otomatis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782312"/>
            <a:ext cx="26517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ptos"/>
              </a:rPr>
              <a:t>18 test dan 76 assertion memastikan aturan penting berjalan.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14300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369A1"/>
                </a:solidFill>
                <a:latin typeface="Aptos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Urutan demonstrasi yang disarankan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Alur ini dapat disampaikan dalam sekitar 7-10 menit.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19659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7592" y="2450592"/>
            <a:ext cx="713232" cy="71323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7592" y="2624328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3832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822191"/>
            <a:ext cx="16459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Masuk sebagai Admin.</a:t>
            </a:r>
          </a:p>
        </p:txBody>
      </p:sp>
      <p:sp>
        <p:nvSpPr>
          <p:cNvPr id="10" name="Chevron 9"/>
          <p:cNvSpPr/>
          <p:nvPr/>
        </p:nvSpPr>
        <p:spPr>
          <a:xfrm>
            <a:off x="2670048" y="2953512"/>
            <a:ext cx="274320" cy="320040"/>
          </a:xfrm>
          <a:prstGeom prst="chevron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53512" y="2148840"/>
            <a:ext cx="19659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75304" y="2450592"/>
            <a:ext cx="713232" cy="71323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4" y="2624328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33832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3822191"/>
            <a:ext cx="16459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Jelaskan ringkasan sekolah.</a:t>
            </a:r>
          </a:p>
        </p:txBody>
      </p:sp>
      <p:sp>
        <p:nvSpPr>
          <p:cNvPr id="16" name="Chevron 15"/>
          <p:cNvSpPr/>
          <p:nvPr/>
        </p:nvSpPr>
        <p:spPr>
          <a:xfrm>
            <a:off x="4937760" y="2953512"/>
            <a:ext cx="274320" cy="320040"/>
          </a:xfrm>
          <a:prstGeom prst="chevron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21224" y="2148840"/>
            <a:ext cx="19659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2450592"/>
            <a:ext cx="713232" cy="71323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43016" y="2624328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5816" y="33832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Jadwal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3822191"/>
            <a:ext cx="16459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Tunjukkan filter dan validasi bentrok.</a:t>
            </a:r>
          </a:p>
        </p:txBody>
      </p:sp>
      <p:sp>
        <p:nvSpPr>
          <p:cNvPr id="22" name="Chevron 21"/>
          <p:cNvSpPr/>
          <p:nvPr/>
        </p:nvSpPr>
        <p:spPr>
          <a:xfrm>
            <a:off x="7205472" y="2953512"/>
            <a:ext cx="274320" cy="320040"/>
          </a:xfrm>
          <a:prstGeom prst="chevron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8936" y="2148840"/>
            <a:ext cx="19659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10727" y="2450592"/>
            <a:ext cx="713232" cy="71323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0727" y="2624328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7" y="33832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Nilai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3822191"/>
            <a:ext cx="16459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Masuk sebagai Guru dan isi nilai massal.</a:t>
            </a:r>
          </a:p>
        </p:txBody>
      </p:sp>
      <p:sp>
        <p:nvSpPr>
          <p:cNvPr id="28" name="Chevron 27"/>
          <p:cNvSpPr/>
          <p:nvPr/>
        </p:nvSpPr>
        <p:spPr>
          <a:xfrm>
            <a:off x="9473184" y="2953512"/>
            <a:ext cx="274320" cy="320040"/>
          </a:xfrm>
          <a:prstGeom prst="chevron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56648" y="2148840"/>
            <a:ext cx="19659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2450592"/>
            <a:ext cx="713232" cy="71323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624328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33832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Hasil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822191"/>
            <a:ext cx="16459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Masuk sebagai Siswa, lalu buka laporan PDF.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80160" y="5074920"/>
            <a:ext cx="9601200" cy="65836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08760" y="52852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369A1"/>
                </a:solidFill>
                <a:latin typeface="Aptos"/>
              </a:rPr>
              <a:t>Fokus pada manfaat dan alur kerja. Hindari penjelasan teknis yang terlalu dalam.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510528"/>
            <a:ext cx="5029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1052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69A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malt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11" y="658368"/>
            <a:ext cx="908577" cy="11155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896112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SD NEGERI 232 MALUKU TENGAH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148840"/>
            <a:ext cx="685800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Jadwal lebih tertib.
Nilai lebih mudah.
Laporan lebih cepat.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498848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0F2FE"/>
                </a:solidFill>
                <a:latin typeface="Aptos"/>
              </a:rPr>
              <a:t>Sistem Informasi Jadwal Pelajaran dan Nilai Siswa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1371600"/>
            <a:ext cx="35661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993392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0F172A"/>
                </a:solidFill>
                <a:latin typeface="Aptos"/>
              </a:rP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697480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369A1"/>
                </a:solidFill>
                <a:latin typeface="Aptos"/>
              </a:rPr>
              <a:t>Pertanyaan dan diskusi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429000"/>
            <a:ext cx="2560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ptos"/>
              </a:rPr>
              <a:t>Aplikasi siap digunakan untuk mendukung pengelolaan akademik sekolah.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4617720"/>
            <a:ext cx="1920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Aptos"/>
              </a:rPr>
              <a:t>SISD 232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Presentasi Aplikasi SISD 232</dc:title>
  <dc:subject>Sistem Informasi Jadwal Pelajaran dan Nilai Siswa</dc:subject>
  <dc:creator>SD Negeri 232 Maluku Tengah</dc:creator>
  <cp:keywords>sekolah, jadwal, nilai, Laravel, SISD 232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